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handru2600/TravelPlanner.g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cmloni.pythonanywhere.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08853015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Chandrashekhar M Loni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chandrashekharml2600@gmail.com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9380557053</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alphaModFix/>
          </a:blip>
          <a:srcRect/>
          <a:stretch/>
        </p:blipFill>
        <p:spPr>
          <a:xfrm>
            <a:off x="4053024" y="3758072"/>
            <a:ext cx="762500" cy="762500"/>
          </a:xfrm>
          <a:prstGeom prst="rect">
            <a:avLst/>
          </a:prstGeom>
          <a:noFill/>
          <a:ln>
            <a:noFill/>
          </a:ln>
        </p:spPr>
      </p:pic>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Domain of  Project – </a:t>
            </a:r>
            <a:r>
              <a:rPr lang="en-US" sz="2800" i="0" u="none" strike="noStrike" cap="none" dirty="0">
                <a:solidFill>
                  <a:srgbClr val="000000"/>
                </a:solidFill>
                <a:highlight>
                  <a:srgbClr val="FFFF00"/>
                </a:highlight>
                <a:latin typeface="Arial"/>
                <a:ea typeface="Arial"/>
                <a:cs typeface="Arial"/>
                <a:sym typeface="Arial"/>
              </a:rPr>
              <a:t>Travel</a:t>
            </a:r>
            <a:endParaRPr sz="2800"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r>
              <a:rPr lang="en-US" sz="2800" b="1" i="0" u="none" strike="noStrike" cap="none" dirty="0">
                <a:solidFill>
                  <a:srgbClr val="000000"/>
                </a:solidFill>
                <a:latin typeface="Arial"/>
                <a:ea typeface="Arial"/>
                <a:cs typeface="Arial"/>
                <a:sym typeface="Arial"/>
              </a:rPr>
              <a:t>Project Tile – </a:t>
            </a:r>
            <a:r>
              <a:rPr lang="en-IN" sz="2800" dirty="0">
                <a:highlight>
                  <a:srgbClr val="FFFF00"/>
                </a:highlight>
              </a:rPr>
              <a:t>AI-Powered Travel Planner Agent</a:t>
            </a:r>
          </a:p>
          <a:p>
            <a:pPr marL="0" marR="0" lvl="0" indent="0" algn="l" rtl="0">
              <a:lnSpc>
                <a:spcPct val="100000"/>
              </a:lnSpc>
              <a:spcBef>
                <a:spcPts val="0"/>
              </a:spcBef>
              <a:spcAft>
                <a:spcPts val="0"/>
              </a:spcAft>
              <a:buNone/>
            </a:pPr>
            <a:endParaRPr sz="28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478382"/>
          </a:xfrm>
          <a:prstGeom prst="rect">
            <a:avLst/>
          </a:prstGeom>
          <a:noFill/>
          <a:ln>
            <a:noFill/>
          </a:ln>
        </p:spPr>
        <p:txBody>
          <a:bodyPr spcFirstLastPara="1" wrap="square" lIns="91425" tIns="45700" rIns="91425" bIns="45700" anchor="t" anchorCtr="0">
            <a:spAutoFit/>
          </a:bodyPr>
          <a:lstStyle/>
          <a:p>
            <a:r>
              <a:rPr lang="en-US" b="1" i="0" u="none" strike="noStrike" cap="none" dirty="0">
                <a:solidFill>
                  <a:srgbClr val="000000"/>
                </a:solidFill>
                <a:latin typeface="Arial"/>
                <a:ea typeface="Arial"/>
                <a:cs typeface="Arial"/>
                <a:sym typeface="Arial"/>
              </a:rPr>
              <a:t>Problem Statement : </a:t>
            </a:r>
            <a:r>
              <a:rPr lang="en-IN" b="1" dirty="0"/>
              <a:t> Travel Planner</a:t>
            </a:r>
            <a:endParaRPr dirty="0"/>
          </a:p>
          <a:p>
            <a:pPr marL="0" marR="0" lvl="0" indent="0" algn="l" rtl="0">
              <a:lnSpc>
                <a:spcPct val="100000"/>
              </a:lnSpc>
              <a:spcBef>
                <a:spcPts val="0"/>
              </a:spcBef>
              <a:spcAft>
                <a:spcPts val="0"/>
              </a:spcAft>
              <a:buNone/>
            </a:pPr>
            <a:endParaRPr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Challenge</a:t>
            </a:r>
            <a:r>
              <a:rPr lang="en-US" b="0" i="0" u="none" strike="noStrike" cap="none" dirty="0">
                <a:solidFill>
                  <a:srgbClr val="000000"/>
                </a:solidFill>
                <a:latin typeface="Arial"/>
                <a:ea typeface="Arial"/>
                <a:cs typeface="Arial"/>
                <a:sym typeface="Arial"/>
              </a:rPr>
              <a:t> </a:t>
            </a:r>
            <a:endParaRPr dirty="0"/>
          </a:p>
          <a:p>
            <a:r>
              <a:rPr lang="en-IN" dirty="0"/>
              <a:t>Planning a vacation or journey can be incredibly stressful and time-consuming. Travelers must visit multiple websites to search for destinations, manually compare hotels, research transport modes, check weather forecasts, calculate budgets, and organize day-by-day activities. Scattered information, a lack of personalization, and manually compiled spreadsheets lead to sub-optimal itineraries and high frustration.</a:t>
            </a:r>
          </a:p>
          <a:p>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Objective</a:t>
            </a:r>
            <a:r>
              <a:rPr lang="en-US" b="0" i="0" u="none" strike="noStrike" cap="none" dirty="0">
                <a:solidFill>
                  <a:srgbClr val="000000"/>
                </a:solidFill>
                <a:latin typeface="Arial"/>
                <a:ea typeface="Arial"/>
                <a:cs typeface="Arial"/>
                <a:sym typeface="Arial"/>
              </a:rPr>
              <a:t> </a:t>
            </a:r>
            <a:endParaRPr dirty="0"/>
          </a:p>
          <a:p>
            <a:r>
              <a:rPr lang="en-IN" dirty="0"/>
              <a:t>Build an AI-Powered Travel Planner Agent that delivers personalized itineraries, budget allocations, hotel options, transport guides, and real-time travel details in one unified platform. The solution should include:</a:t>
            </a:r>
          </a:p>
          <a:p>
            <a:pPr marL="285750" indent="-285750">
              <a:buFont typeface="Arial" panose="020B0604020202020204" pitchFamily="34" charset="0"/>
              <a:buChar char="•"/>
            </a:pPr>
            <a:r>
              <a:rPr lang="en-IN" b="1" dirty="0"/>
              <a:t>Personalized Itineraries:</a:t>
            </a:r>
            <a:r>
              <a:rPr lang="en-IN" dirty="0"/>
              <a:t> Generate custom day-wise schedules based on dates, budget constraints, travel styles, and special    preferences.</a:t>
            </a:r>
          </a:p>
          <a:p>
            <a:pPr marL="285750" indent="-285750">
              <a:buFont typeface="Arial" panose="020B0604020202020204" pitchFamily="34" charset="0"/>
              <a:buChar char="•"/>
            </a:pPr>
            <a:r>
              <a:rPr lang="en-IN" b="1" dirty="0"/>
              <a:t>Multi-Modal &amp; Interactive Tools:</a:t>
            </a:r>
            <a:r>
              <a:rPr lang="en-IN" dirty="0"/>
              <a:t> Live maps, a drag-and-drop timeline builder, geocoded inputs, and a real-time attraction            explorer.</a:t>
            </a:r>
          </a:p>
          <a:p>
            <a:pPr marL="285750" indent="-285750">
              <a:buFont typeface="Arial" panose="020B0604020202020204" pitchFamily="34" charset="0"/>
              <a:buChar char="•"/>
            </a:pPr>
            <a:r>
              <a:rPr lang="en-IN" b="1" dirty="0"/>
              <a:t>Live Weather </a:t>
            </a:r>
            <a:r>
              <a:rPr lang="en-IN" b="1" dirty="0" err="1"/>
              <a:t>Integration:</a:t>
            </a:r>
            <a:r>
              <a:rPr lang="en-IN" dirty="0" err="1"/>
              <a:t>Display</a:t>
            </a:r>
            <a:r>
              <a:rPr lang="en-IN" dirty="0"/>
              <a:t> current weather conditions and 7-day forecast for the destination.</a:t>
            </a:r>
          </a:p>
          <a:p>
            <a:pPr marL="285750" indent="-285750">
              <a:buFont typeface="Arial" panose="020B0604020202020204" pitchFamily="34" charset="0"/>
              <a:buChar char="•"/>
            </a:pPr>
            <a:r>
              <a:rPr lang="en-IN" b="1" dirty="0"/>
              <a:t>Expense Tracker &amp; Analytics:</a:t>
            </a:r>
            <a:r>
              <a:rPr lang="en-IN" dirty="0"/>
              <a:t> Log travel expenses, display interactive charts, and calculate remaining budget.</a:t>
            </a:r>
          </a:p>
          <a:p>
            <a:pPr marL="285750" indent="-285750">
              <a:buFont typeface="Arial" panose="020B0604020202020204" pitchFamily="34" charset="0"/>
              <a:buChar char="•"/>
            </a:pPr>
            <a:r>
              <a:rPr lang="en-IN" b="1" dirty="0"/>
              <a:t>Automated PDF </a:t>
            </a:r>
            <a:r>
              <a:rPr lang="en-IN" b="1" dirty="0" err="1"/>
              <a:t>Export:</a:t>
            </a:r>
            <a:r>
              <a:rPr lang="en-IN" dirty="0" err="1"/>
              <a:t>Generate</a:t>
            </a:r>
            <a:r>
              <a:rPr lang="en-IN" dirty="0"/>
              <a:t> professional offline-ready travel reports.</a:t>
            </a:r>
          </a:p>
          <a:p>
            <a:pPr marL="285750" indent="-285750">
              <a:buFont typeface="Arial" panose="020B0604020202020204" pitchFamily="34" charset="0"/>
              <a:buChar char="•"/>
            </a:pPr>
            <a:r>
              <a:rPr lang="en-IN" b="1" dirty="0"/>
              <a:t>Multi-Agent / Modular System:</a:t>
            </a:r>
            <a:endParaRPr lang="en-IN" dirty="0"/>
          </a:p>
          <a:p>
            <a:pPr lvl="8"/>
            <a:r>
              <a:rPr lang="en-IN" dirty="0"/>
              <a:t>         1.Itinerary Generation Agent (day-wise scheduling)</a:t>
            </a:r>
          </a:p>
          <a:p>
            <a:pPr lvl="8"/>
            <a:r>
              <a:rPr lang="en-IN" dirty="0"/>
              <a:t>         2.Budget Planner Agent (expense categories and allocation)</a:t>
            </a:r>
          </a:p>
          <a:p>
            <a:pPr lvl="8"/>
            <a:r>
              <a:rPr lang="en-IN" dirty="0"/>
              <a:t>         3.Hotel Recommendation Agent (tiered accommodation recommendations)</a:t>
            </a:r>
          </a:p>
          <a:p>
            <a:pPr lvl="8"/>
            <a:r>
              <a:rPr lang="en-IN" dirty="0"/>
              <a:t>         4.Transport Selection Agent (cost-effective transit route advice)</a:t>
            </a:r>
          </a:p>
          <a:p>
            <a:pPr marL="0" marR="0" lvl="0" indent="0" algn="l" rtl="0">
              <a:lnSpc>
                <a:spcPct val="100000"/>
              </a:lnSpc>
              <a:spcBef>
                <a:spcPts val="0"/>
              </a:spcBef>
              <a:spcAft>
                <a:spcPts val="0"/>
              </a:spcAft>
              <a:buNone/>
            </a:pPr>
            <a:endParaRPr lang="en-IN"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US" sz="1400" b="1" i="0" u="none" strike="noStrike" cap="none" dirty="0">
                <a:solidFill>
                  <a:srgbClr val="000000"/>
                </a:solidFill>
                <a:latin typeface="Arial"/>
                <a:ea typeface="Arial"/>
                <a:cs typeface="Arial"/>
                <a:sym typeface="Arial"/>
              </a:rPr>
              <a:t>Proposed Solution: </a:t>
            </a:r>
            <a:r>
              <a:rPr lang="en-IN" b="1" dirty="0"/>
              <a:t>AI-Powered Travel Planner Agent</a:t>
            </a:r>
            <a:endParaRPr dirty="0"/>
          </a:p>
          <a:p>
            <a:pPr marL="285750" indent="-285750">
              <a:buFont typeface="Arial" panose="020B0604020202020204" pitchFamily="34" charset="0"/>
              <a:buChar char="•"/>
            </a:pPr>
            <a:r>
              <a:rPr lang="en-IN" dirty="0"/>
              <a:t>The proposed solution is a full-stack, AI-Powered Travel Planner Agent that simplifies journey planning. Built on Flask, SQLite, and custom Bootstrap styling, it features two distinct but connected workflows:</a:t>
            </a:r>
          </a:p>
          <a:p>
            <a:pPr lvl="8"/>
            <a:r>
              <a:rPr lang="en-IN" dirty="0"/>
              <a:t>       </a:t>
            </a:r>
            <a:r>
              <a:rPr lang="en-IN" b="1" dirty="0"/>
              <a:t>Smart Travel Wizard:</a:t>
            </a:r>
            <a:r>
              <a:rPr lang="en-IN" dirty="0"/>
              <a:t> An interactive 10-step planner. It uses </a:t>
            </a:r>
            <a:r>
              <a:rPr lang="en-IN" dirty="0" err="1"/>
              <a:t>Nominatim</a:t>
            </a:r>
            <a:r>
              <a:rPr lang="en-IN" dirty="0"/>
              <a:t> API for geocoding, Overpass API for discovering nearby tourist spots from OpenStreetMap, OSRM API for road routing and drive-time calculations, </a:t>
            </a:r>
            <a:r>
              <a:rPr lang="en-IN" dirty="0" err="1"/>
              <a:t>MapLibre</a:t>
            </a:r>
            <a:r>
              <a:rPr lang="en-IN" dirty="0"/>
              <a:t> GL for rendering interactive maps, and Chart.js for real-time budget and time analytics.</a:t>
            </a:r>
          </a:p>
          <a:p>
            <a:pPr lvl="8"/>
            <a:endParaRPr lang="en-IN" dirty="0"/>
          </a:p>
          <a:p>
            <a:pPr lvl="8"/>
            <a:r>
              <a:rPr lang="en-IN" dirty="0"/>
              <a:t>       </a:t>
            </a:r>
            <a:r>
              <a:rPr lang="en-IN" b="1" dirty="0"/>
              <a:t>IBM Granite AI Planner:</a:t>
            </a:r>
            <a:r>
              <a:rPr lang="en-IN" dirty="0"/>
              <a:t> Leverages IBM watsonx.ai REST API and the `</a:t>
            </a:r>
            <a:r>
              <a:rPr lang="en-IN" dirty="0" err="1"/>
              <a:t>ibm</a:t>
            </a:r>
            <a:r>
              <a:rPr lang="en-IN" dirty="0"/>
              <a:t>/granite-4-h-small` model to generate detailed, structured JSON representations for itineraries, hotel selections, transit options, and budget breakdowns.</a:t>
            </a:r>
          </a:p>
          <a:p>
            <a:endParaRPr lang="en-IN" dirty="0"/>
          </a:p>
          <a:p>
            <a:pPr marL="285750" indent="-285750">
              <a:buFont typeface="Arial" panose="020B0604020202020204" pitchFamily="34" charset="0"/>
              <a:buChar char="•"/>
            </a:pPr>
            <a:r>
              <a:rPr lang="en-IN" dirty="0"/>
              <a:t>The solution includes a user-friendly dashboard that visualizes trip statistics, shows live weather forecasts, tracks manual travel expenses, and manages saved trips.</a:t>
            </a:r>
          </a:p>
          <a:p>
            <a:pPr marL="285750" indent="-285750">
              <a:buFont typeface="Arial" panose="020B0604020202020204" pitchFamily="34" charset="0"/>
              <a:buChar char="•"/>
            </a:pPr>
            <a:r>
              <a:rPr lang="en-IN" dirty="0"/>
              <a:t>Under the hood, the system uses two optimized API calls to watsonx.ai for fast generation. The first fetches the core itinerary and packing details, while the second retrieves budget allocations and hotel/transport options.</a:t>
            </a:r>
          </a:p>
          <a:p>
            <a:pPr marL="285750" indent="-285750">
              <a:buFont typeface="Arial" panose="020B0604020202020204" pitchFamily="34" charset="0"/>
              <a:buChar char="•"/>
            </a:pPr>
            <a:r>
              <a:rPr lang="en-IN" dirty="0"/>
              <a:t> A clean `@media print` style and a </a:t>
            </a:r>
            <a:r>
              <a:rPr lang="en-IN" dirty="0" err="1"/>
              <a:t>ReportLab</a:t>
            </a:r>
            <a:r>
              <a:rPr lang="en-IN" dirty="0"/>
              <a:t> PDF generator allow offline PDF/print downloads of the full travel plan.</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016718"/>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IN" sz="2000" b="1" dirty="0"/>
              <a:t>    Flask (MVC Framework):  </a:t>
            </a:r>
            <a:r>
              <a:rPr lang="en-IN" sz="2000" dirty="0"/>
              <a:t> For routing, session management, and server-side rendering.</a:t>
            </a:r>
          </a:p>
          <a:p>
            <a:endParaRPr lang="en-IN" sz="2000" dirty="0"/>
          </a:p>
          <a:p>
            <a:pPr marL="285750" indent="-285750">
              <a:buFont typeface="Arial" panose="020B0604020202020204" pitchFamily="34" charset="0"/>
              <a:buChar char="•"/>
            </a:pPr>
            <a:r>
              <a:rPr lang="en-IN" sz="2000" dirty="0"/>
              <a:t>  </a:t>
            </a:r>
            <a:r>
              <a:rPr lang="en-IN" sz="2000" b="1" dirty="0"/>
              <a:t>  IBM Granite Model:  </a:t>
            </a:r>
            <a:r>
              <a:rPr lang="en-IN" sz="2000" dirty="0"/>
              <a:t> (e.g., `</a:t>
            </a:r>
            <a:r>
              <a:rPr lang="en-IN" sz="2000" dirty="0" err="1"/>
              <a:t>ibm</a:t>
            </a:r>
            <a:r>
              <a:rPr lang="en-IN" sz="2000" dirty="0"/>
              <a:t>/granite-4-h-small` / `</a:t>
            </a:r>
            <a:r>
              <a:rPr lang="en-IN" sz="2000" dirty="0" err="1"/>
              <a:t>ibm</a:t>
            </a:r>
            <a:r>
              <a:rPr lang="en-IN" sz="2000" dirty="0"/>
              <a:t>/granite-13b-instruct-v2`) For natural language reasoning, structured JSON text generation, and personalization.</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IBM watsonx.ai:  </a:t>
            </a:r>
            <a:r>
              <a:rPr lang="en-IN" sz="2000" dirty="0"/>
              <a:t> Provides secure REST API access to foundation models and token authentication.</a:t>
            </a:r>
          </a:p>
          <a:p>
            <a:endParaRPr lang="en-IN" sz="2000" dirty="0"/>
          </a:p>
          <a:p>
            <a:pPr marL="285750" indent="-285750">
              <a:buFont typeface="Arial" panose="020B0604020202020204" pitchFamily="34" charset="0"/>
              <a:buChar char="•"/>
            </a:pPr>
            <a:r>
              <a:rPr lang="en-IN" sz="2000" dirty="0"/>
              <a:t>  </a:t>
            </a:r>
            <a:r>
              <a:rPr lang="en-IN" sz="2000" b="1" dirty="0"/>
              <a:t>  </a:t>
            </a:r>
            <a:r>
              <a:rPr lang="en-IN" sz="2000" b="1" dirty="0" err="1"/>
              <a:t>MapLibre</a:t>
            </a:r>
            <a:r>
              <a:rPr lang="en-IN" sz="2000" b="1" dirty="0"/>
              <a:t> GL &amp; </a:t>
            </a:r>
            <a:r>
              <a:rPr lang="en-IN" sz="2000" b="1" dirty="0" err="1"/>
              <a:t>OpenFreeMap</a:t>
            </a:r>
            <a:r>
              <a:rPr lang="en-IN" sz="2000" b="1" dirty="0"/>
              <a:t>:  </a:t>
            </a:r>
            <a:r>
              <a:rPr lang="en-IN" sz="2000" dirty="0"/>
              <a:t> For rendering interactive maps, marker plots, and path polylines.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a:t>
            </a:r>
            <a:r>
              <a:rPr lang="en-IN" sz="2000" b="1" dirty="0" err="1"/>
              <a:t>Nominatim</a:t>
            </a:r>
            <a:r>
              <a:rPr lang="en-IN" sz="2000" b="1" dirty="0"/>
              <a:t>, Overpass, and OSRM APIs:  </a:t>
            </a:r>
            <a:r>
              <a:rPr lang="en-IN" sz="2000" dirty="0"/>
              <a:t> For address autocompletion, POI attraction discovery, and driving route distance calculations.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dirty="0"/>
              <a:t>  </a:t>
            </a:r>
            <a:r>
              <a:rPr lang="en-IN" sz="2000" b="1" dirty="0"/>
              <a:t>  Chart.js:  </a:t>
            </a:r>
            <a:r>
              <a:rPr lang="en-IN" sz="2000" dirty="0"/>
              <a:t> For rendering interactive budget and time distribution charts.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9325670" cy="5016718"/>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IN" sz="2000" b="1" dirty="0"/>
              <a:t>Travel Input Form:  </a:t>
            </a:r>
            <a:r>
              <a:rPr lang="en-IN" sz="2000" dirty="0"/>
              <a:t> Interface where users enter trip requirements (destination, dates, budget, </a:t>
            </a:r>
            <a:r>
              <a:rPr lang="en-IN" sz="2000" dirty="0" err="1"/>
              <a:t>travelers</a:t>
            </a:r>
            <a:r>
              <a:rPr lang="en-IN" sz="2000" dirty="0"/>
              <a:t>, transport mode, style, and special requirements).</a:t>
            </a:r>
          </a:p>
          <a:p>
            <a:endParaRPr lang="en-IN" sz="2000" dirty="0"/>
          </a:p>
          <a:p>
            <a:pPr marL="457200" indent="-457200">
              <a:buAutoNum type="arabicPeriod" startAt="2"/>
            </a:pPr>
            <a:r>
              <a:rPr lang="en-IN" sz="2000" b="1" dirty="0"/>
              <a:t>IBM watsonx.ai API Agent:  </a:t>
            </a:r>
            <a:r>
              <a:rPr lang="en-IN" sz="2000" dirty="0"/>
              <a:t> Connects to watsonx.ai to process user inputs using Granite models to generate personalized travel insights and recommendations.</a:t>
            </a:r>
          </a:p>
          <a:p>
            <a:pPr marL="457200" indent="-457200">
              <a:buAutoNum type="arabicPeriod" startAt="2"/>
            </a:pPr>
            <a:endParaRPr lang="en-IN" sz="2000" dirty="0"/>
          </a:p>
          <a:p>
            <a:pPr marL="457200" indent="-457200">
              <a:buAutoNum type="arabicPeriod" startAt="3"/>
            </a:pPr>
            <a:r>
              <a:rPr lang="en-IN" sz="2000" b="1" dirty="0"/>
              <a:t>Name of IBM Granite Model:  </a:t>
            </a:r>
            <a:r>
              <a:rPr lang="en-IN" sz="2000" dirty="0"/>
              <a:t> `</a:t>
            </a:r>
            <a:r>
              <a:rPr lang="en-IN" sz="2000" dirty="0" err="1"/>
              <a:t>ibm</a:t>
            </a:r>
            <a:r>
              <a:rPr lang="en-IN" sz="2000" dirty="0"/>
              <a:t>/granite-4-h-small` (Fast, efficient, and cost-effective for structured travel plan generation).</a:t>
            </a:r>
          </a:p>
          <a:p>
            <a:pPr marL="457200" indent="-457200">
              <a:buAutoNum type="arabicPeriod" startAt="3"/>
            </a:pPr>
            <a:endParaRPr lang="en-IN" sz="2000" dirty="0"/>
          </a:p>
          <a:p>
            <a:pPr marL="457200" indent="-457200">
              <a:buAutoNum type="arabicPeriod" startAt="4"/>
            </a:pPr>
            <a:r>
              <a:rPr lang="en-IN" sz="2000" b="1" dirty="0"/>
              <a:t>Trip View Dashboard:  </a:t>
            </a:r>
            <a:r>
              <a:rPr lang="en-IN" sz="2000" dirty="0"/>
              <a:t> Displays AI-generated responses including day-wise schedules, budget charts, hotel options, and transport summaries.</a:t>
            </a:r>
          </a:p>
          <a:p>
            <a:pPr marL="457200" indent="-457200">
              <a:buAutoNum type="arabicPeriod" startAt="4"/>
            </a:pPr>
            <a:endParaRPr lang="en-IN" sz="2000" dirty="0"/>
          </a:p>
          <a:p>
            <a:r>
              <a:rPr lang="en-IN" sz="2000" dirty="0"/>
              <a:t>5. </a:t>
            </a:r>
            <a:r>
              <a:rPr lang="en-IN" sz="2000" b="1" dirty="0"/>
              <a:t>  SQLite DB / File Component:  </a:t>
            </a:r>
            <a:r>
              <a:rPr lang="en-IN" sz="2000" dirty="0"/>
              <a:t> Stores user accounts, trip metadata, and generated JSON itineraries for analysis and tracking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126" name="Google Shape;126;p38"/>
          <p:cNvPicPr preferRelativeResize="0"/>
          <p:nvPr/>
        </p:nvPicPr>
        <p:blipFill rotWithShape="1">
          <a:blip r:embed="rId3">
            <a:alphaModFix/>
          </a:blip>
          <a:srcRect/>
          <a:stretch/>
        </p:blipFill>
        <p:spPr>
          <a:xfrm>
            <a:off x="1495063" y="1150837"/>
            <a:ext cx="9201874" cy="550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l="3001" t="6167" r="3437" b="2005"/>
          <a:stretch>
            <a:fillRect/>
          </a:stretch>
        </p:blipFill>
        <p:spPr>
          <a:xfrm>
            <a:off x="403833" y="771747"/>
            <a:ext cx="11384334" cy="57630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475488" y="1167493"/>
            <a:ext cx="7406640" cy="4801274"/>
          </a:xfrm>
          <a:prstGeom prst="rect">
            <a:avLst/>
          </a:prstGeom>
          <a:noFill/>
          <a:ln>
            <a:noFill/>
          </a:ln>
        </p:spPr>
        <p:txBody>
          <a:bodyPr spcFirstLastPara="1" wrap="square" lIns="91425" tIns="45700" rIns="91425" bIns="45700" anchor="t" anchorCtr="0">
            <a:spAutoFit/>
          </a:bodyPr>
          <a:lstStyle/>
          <a:p>
            <a:r>
              <a:rPr lang="en-US" sz="1800" b="1" i="0" u="none" strike="noStrike" cap="none" dirty="0">
                <a:solidFill>
                  <a:srgbClr val="000000"/>
                </a:solidFill>
                <a:latin typeface="Arial"/>
                <a:ea typeface="Arial"/>
                <a:cs typeface="Arial"/>
                <a:sym typeface="Arial"/>
              </a:rPr>
              <a:t>Role of Agentic AI in </a:t>
            </a:r>
            <a:r>
              <a:rPr lang="en-IN" sz="1800" b="1" dirty="0"/>
              <a:t> Travel Planner Agent</a:t>
            </a:r>
            <a:endParaRPr lang="en-IN" sz="1800" dirty="0"/>
          </a:p>
          <a:p>
            <a:pPr marL="285750" indent="-285750">
              <a:buFont typeface="Arial" panose="020B0604020202020204" pitchFamily="34" charset="0"/>
              <a:buChar char="•"/>
            </a:pPr>
            <a:r>
              <a:rPr lang="en-IN" sz="1800" dirty="0"/>
              <a:t>  Agentic AI elevates the Travel Planner from a static search system to an autonomous planning assistant. Using IBM watsonx.ai and IBM Granite models, the agent reasons and coordinates the various components of a trip based on user preferences.</a:t>
            </a:r>
          </a:p>
          <a:p>
            <a:pPr marL="285750" indent="-285750">
              <a:buFont typeface="Arial" panose="020B0604020202020204" pitchFamily="34" charset="0"/>
              <a:buChar char="•"/>
            </a:pPr>
            <a:r>
              <a:rPr lang="en-IN" sz="1800" dirty="0"/>
              <a:t>  The model acts as a multi-specialist system: automatically dividing total budget percentages (for accommodation, food, transport, activities, etc.), recommending tiered hotels matching the style, selecting transit methods, and building schedules.</a:t>
            </a:r>
          </a:p>
          <a:p>
            <a:pPr marL="285750" indent="-285750">
              <a:buFont typeface="Arial" panose="020B0604020202020204" pitchFamily="34" charset="0"/>
              <a:buChar char="•"/>
            </a:pPr>
            <a:r>
              <a:rPr lang="en-IN" sz="1800" dirty="0"/>
              <a:t>  It maintains context awareness by checking travel duration, number of </a:t>
            </a:r>
            <a:r>
              <a:rPr lang="en-IN" sz="1800" dirty="0" err="1"/>
              <a:t>travelers</a:t>
            </a:r>
            <a:r>
              <a:rPr lang="en-IN" sz="1800" dirty="0"/>
              <a:t>, budget constraints, travel styles (e.g., Adventure, Nature, Solo), and special instructions (e.g. dietary or accessibility rules).</a:t>
            </a:r>
          </a:p>
          <a:p>
            <a:pPr marL="285750" indent="-285750">
              <a:buFont typeface="Arial" panose="020B0604020202020204" pitchFamily="34" charset="0"/>
              <a:buChar char="•"/>
            </a:pPr>
            <a:r>
              <a:rPr lang="en-IN" sz="1800" dirty="0"/>
              <a:t>  In the Smart Wizard workflow, agentic design is displayed via automated chaining: resolving geocodes, querying coordinates for tourist spots, calculating driving paths between stops, and presenting a unified day-to-day plan dynamically.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37751</a:t>
            </a:r>
            <a:r>
              <a:rPr lang="en-US" sz="1400" b="0" i="0" u="none" strike="noStrike" cap="none" dirty="0">
                <a:solidFill>
                  <a:srgbClr val="000000"/>
                </a:solidFill>
                <a:latin typeface="Arial"/>
                <a:ea typeface="Arial"/>
                <a:cs typeface="Arial"/>
                <a:sym typeface="Arial"/>
              </a:rPr>
              <a:t> token are used</a:t>
            </a:r>
            <a:endParaRPr dirty="0"/>
          </a:p>
        </p:txBody>
      </p:sp>
      <p:pic>
        <p:nvPicPr>
          <p:cNvPr id="149" name="Google Shape;149;p39"/>
          <p:cNvPicPr preferRelativeResize="0"/>
          <p:nvPr/>
        </p:nvPicPr>
        <p:blipFill rotWithShape="1">
          <a:blip r:embed="rId3">
            <a:alphaModFix/>
          </a:blip>
          <a:srcRect/>
          <a:stretch/>
        </p:blipFill>
        <p:spPr>
          <a:xfrm>
            <a:off x="219920" y="2519324"/>
            <a:ext cx="5474826" cy="3213879"/>
          </a:xfrm>
          <a:prstGeom prst="rect">
            <a:avLst/>
          </a:prstGeom>
          <a:noFill/>
          <a:ln>
            <a:noFill/>
          </a:ln>
        </p:spPr>
      </p:pic>
      <p:pic>
        <p:nvPicPr>
          <p:cNvPr id="150" name="Google Shape;150;p39"/>
          <p:cNvPicPr preferRelativeResize="0"/>
          <p:nvPr/>
        </p:nvPicPr>
        <p:blipFill rotWithShape="1">
          <a:blip r:embed="rId4">
            <a:alphaModFix/>
          </a:blip>
          <a:srcRect/>
          <a:stretch/>
        </p:blipFill>
        <p:spPr>
          <a:xfrm>
            <a:off x="5845215" y="2504015"/>
            <a:ext cx="6038911" cy="3213879"/>
          </a:xfrm>
          <a:prstGeom prst="rect">
            <a:avLst/>
          </a:prstGeom>
          <a:noFill/>
          <a:ln>
            <a:noFill/>
          </a:ln>
        </p:spPr>
      </p:pic>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4093388"/>
          </a:xfrm>
          <a:prstGeom prst="rect">
            <a:avLst/>
          </a:prstGeom>
          <a:noFill/>
          <a:ln>
            <a:noFill/>
          </a:ln>
        </p:spPr>
        <p:txBody>
          <a:bodyPr spcFirstLastPara="1" wrap="square" lIns="91425" tIns="45700" rIns="91425" bIns="45700" anchor="t" anchorCtr="0">
            <a:spAutoFit/>
          </a:bodyPr>
          <a:lstStyle/>
          <a:p>
            <a:r>
              <a:rPr lang="en-IN" sz="2000" dirty="0"/>
              <a:t>The proposed Travel Planner Agent combines Agentic AI, real-time geolocational APIs, and offline document processing:</a:t>
            </a:r>
          </a:p>
          <a:p>
            <a:pPr marL="342900" lvl="1" indent="-342900">
              <a:buFont typeface="Arial" panose="020B0604020202020204" pitchFamily="34" charset="0"/>
              <a:buChar char="•"/>
            </a:pPr>
            <a:r>
              <a:rPr lang="en-IN" sz="2000" dirty="0"/>
              <a:t>  </a:t>
            </a:r>
            <a:r>
              <a:rPr lang="en-IN" sz="2000" b="1" dirty="0"/>
              <a:t>  Dual-Workflow System:  </a:t>
            </a:r>
            <a:r>
              <a:rPr lang="en-IN" sz="2000" dirty="0"/>
              <a:t> Features an interactive API-driven Smart Wizard (zero API key dependency) alongside a high-fidelity IBM Granite AI generator.</a:t>
            </a:r>
          </a:p>
          <a:p>
            <a:pPr marL="342900" lvl="1" indent="-342900">
              <a:buFont typeface="Arial" panose="020B0604020202020204" pitchFamily="34" charset="0"/>
              <a:buChar char="•"/>
            </a:pPr>
            <a:r>
              <a:rPr lang="en-IN" sz="2000" dirty="0"/>
              <a:t>  </a:t>
            </a:r>
            <a:r>
              <a:rPr lang="en-IN" sz="2000" b="1" dirty="0"/>
              <a:t>  True Geographical Routing:  </a:t>
            </a:r>
            <a:r>
              <a:rPr lang="en-IN" sz="2000" dirty="0"/>
              <a:t> Utilizes real OpenStreetMap datasets (Overpass/OSRM) to ensure attractions and routes are geographically possible and route-optimized.</a:t>
            </a:r>
          </a:p>
          <a:p>
            <a:pPr marL="342900" lvl="1" indent="-342900">
              <a:buFont typeface="Arial" panose="020B0604020202020204" pitchFamily="34" charset="0"/>
              <a:buChar char="•"/>
            </a:pPr>
            <a:r>
              <a:rPr lang="en-IN" sz="2000" dirty="0"/>
              <a:t>  </a:t>
            </a:r>
            <a:r>
              <a:rPr lang="en-IN" sz="2000" b="1" dirty="0"/>
              <a:t>  Comprehensive Dashboard:  </a:t>
            </a:r>
            <a:r>
              <a:rPr lang="en-IN" sz="2000" dirty="0"/>
              <a:t> Bundles itinerary generation, live weather forecasting, </a:t>
            </a:r>
            <a:r>
              <a:rPr lang="en-IN" sz="2000" dirty="0" err="1"/>
              <a:t>MapLibre</a:t>
            </a:r>
            <a:r>
              <a:rPr lang="en-IN" sz="2000" dirty="0"/>
              <a:t> GL mapping, and manual expense tracking into a single responsive view.</a:t>
            </a:r>
          </a:p>
          <a:p>
            <a:pPr marL="342900" lvl="1" indent="-342900">
              <a:buFont typeface="Arial" panose="020B0604020202020204" pitchFamily="34" charset="0"/>
              <a:buChar char="•"/>
            </a:pPr>
            <a:r>
              <a:rPr lang="en-IN" sz="2000" dirty="0"/>
              <a:t>  </a:t>
            </a:r>
            <a:r>
              <a:rPr lang="en-IN" sz="2000" b="1" dirty="0"/>
              <a:t>  Offline Utility:  </a:t>
            </a:r>
            <a:r>
              <a:rPr lang="en-IN" sz="2000" dirty="0"/>
              <a:t> Offers print-ready CSS formats and a custom </a:t>
            </a:r>
            <a:r>
              <a:rPr lang="en-IN" sz="2000" dirty="0" err="1"/>
              <a:t>ReportLab</a:t>
            </a:r>
            <a:r>
              <a:rPr lang="en-IN" sz="2000" dirty="0"/>
              <a:t> PDF exporter for offline itinerary access.</a:t>
            </a:r>
          </a:p>
          <a:p>
            <a:pPr marL="342900" lvl="1" indent="-342900">
              <a:buFont typeface="Arial" panose="020B0604020202020204" pitchFamily="34" charset="0"/>
              <a:buChar char="•"/>
            </a:pPr>
            <a:r>
              <a:rPr lang="en-IN" sz="2000" dirty="0"/>
              <a:t>  </a:t>
            </a:r>
            <a:r>
              <a:rPr lang="en-IN" sz="2000" b="1" dirty="0"/>
              <a:t>  Enterprise-Ready Infrastructure:  </a:t>
            </a:r>
            <a:r>
              <a:rPr lang="en-IN" sz="2000" dirty="0"/>
              <a:t> Scaled with IBM watsonx.ai and secure Granite models, providing reliable JSON outputs and strict safety guidelines.</a:t>
            </a: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3"/>
              </a:rPr>
              <a:t>https://github.com/Chandru2600/TravelPlanner.git</a:t>
            </a:r>
            <a:endParaRPr dirty="0"/>
          </a:p>
          <a:p>
            <a:pPr lvl="0">
              <a:lnSpc>
                <a:spcPct val="162162"/>
              </a:lnSpc>
              <a:buClr>
                <a:srgbClr val="2B3541"/>
              </a:buClr>
              <a:buSzPts val="1850"/>
            </a:pPr>
            <a:r>
              <a:rPr lang="en-US" sz="1850" dirty="0">
                <a:latin typeface="Times New Roman"/>
                <a:ea typeface="Times New Roman"/>
                <a:cs typeface="Times New Roman"/>
                <a:sym typeface="Times New Roman"/>
              </a:rPr>
              <a:t>Project Live Web Link:  </a:t>
            </a:r>
            <a:r>
              <a:rPr lang="en-US" sz="1850" dirty="0">
                <a:latin typeface="Times New Roman"/>
                <a:ea typeface="Times New Roman"/>
                <a:cs typeface="Times New Roman"/>
                <a:sym typeface="Times New Roman"/>
                <a:hlinkClick r:id="rId4" action="ppaction://hlinkfile"/>
              </a:rPr>
              <a:t>cmloni.pythonanywhere.com</a:t>
            </a:r>
            <a:r>
              <a:rPr lang="en-US"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IN" sz="2000" b="1" dirty="0"/>
              <a:t>Collaborative Planning:  </a:t>
            </a:r>
            <a:r>
              <a:rPr lang="en-IN" sz="2000" dirty="0"/>
              <a:t> Enable multiple users to collaborate on a single travel plan, supporting shared expense logging, real-time activity votes, and unified notes.</a:t>
            </a:r>
          </a:p>
          <a:p>
            <a:pPr marL="457200" indent="-457200">
              <a:buAutoNum type="arabicPeriod"/>
            </a:pPr>
            <a:endParaRPr lang="en-IN" sz="2000" dirty="0"/>
          </a:p>
          <a:p>
            <a:pPr marL="457200" indent="-457200">
              <a:buAutoNum type="arabicPeriod" startAt="2"/>
            </a:pPr>
            <a:r>
              <a:rPr lang="en-IN" sz="2000" b="1" dirty="0"/>
              <a:t>Booking Integration:  </a:t>
            </a:r>
            <a:r>
              <a:rPr lang="en-IN" sz="2000" dirty="0"/>
              <a:t> Connect direct booking widgets for flight, train, and hotel recommendations using Amadeus, Skyscanner, or Booking.com APIs.</a:t>
            </a:r>
          </a:p>
          <a:p>
            <a:pPr marL="457200" indent="-457200">
              <a:buAutoNum type="arabicPeriod" startAt="2"/>
            </a:pPr>
            <a:endParaRPr lang="en-IN" sz="2000" dirty="0"/>
          </a:p>
          <a:p>
            <a:r>
              <a:rPr lang="en-IN" sz="2000" dirty="0"/>
              <a:t>3. </a:t>
            </a:r>
            <a:r>
              <a:rPr lang="en-IN" sz="2000" b="1" dirty="0"/>
              <a:t>  Personalized Machine Learning:  </a:t>
            </a:r>
            <a:r>
              <a:rPr lang="en-IN" sz="2000" dirty="0"/>
              <a:t> Feed user ratings and travel history database records into the AI inference context to suggest highly tailored destinations over time.</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rotWithShape="1">
          <a:blip r:embed="rId3">
            <a:alphaModFix/>
          </a:blip>
          <a:srcRect/>
          <a:stretch/>
        </p:blipFill>
        <p:spPr>
          <a:xfrm>
            <a:off x="407747" y="1508726"/>
            <a:ext cx="5688253" cy="4232317"/>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18D8ECC-830C-0270-824B-8033AB59CC5F}"/>
              </a:ext>
            </a:extLst>
          </p:cNvPr>
          <p:cNvPicPr>
            <a:picLocks noChangeAspect="1"/>
          </p:cNvPicPr>
          <p:nvPr/>
        </p:nvPicPr>
        <p:blipFill>
          <a:blip r:embed="rId4"/>
          <a:stretch>
            <a:fillRect/>
          </a:stretch>
        </p:blipFill>
        <p:spPr>
          <a:xfrm>
            <a:off x="6096000" y="1508726"/>
            <a:ext cx="5666998" cy="42323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BB4E83-B316-CA98-ABBD-E38418203B2A}"/>
              </a:ext>
            </a:extLst>
          </p:cNvPr>
          <p:cNvPicPr>
            <a:picLocks noChangeAspect="1"/>
          </p:cNvPicPr>
          <p:nvPr/>
        </p:nvPicPr>
        <p:blipFill>
          <a:blip r:embed="rId2"/>
          <a:stretch>
            <a:fillRect/>
          </a:stretch>
        </p:blipFill>
        <p:spPr>
          <a:xfrm>
            <a:off x="218767" y="1077469"/>
            <a:ext cx="5623106" cy="4351058"/>
          </a:xfrm>
          <a:prstGeom prst="rect">
            <a:avLst/>
          </a:prstGeom>
        </p:spPr>
      </p:pic>
      <p:pic>
        <p:nvPicPr>
          <p:cNvPr id="5" name="Picture 4">
            <a:extLst>
              <a:ext uri="{FF2B5EF4-FFF2-40B4-BE49-F238E27FC236}">
                <a16:creationId xmlns:a16="http://schemas.microsoft.com/office/drawing/2014/main" id="{56170D80-92A8-25B1-1CE6-6F67D4DF201C}"/>
              </a:ext>
            </a:extLst>
          </p:cNvPr>
          <p:cNvPicPr>
            <a:picLocks noChangeAspect="1"/>
          </p:cNvPicPr>
          <p:nvPr/>
        </p:nvPicPr>
        <p:blipFill>
          <a:blip r:embed="rId3"/>
          <a:stretch>
            <a:fillRect/>
          </a:stretch>
        </p:blipFill>
        <p:spPr>
          <a:xfrm>
            <a:off x="5952217" y="1124908"/>
            <a:ext cx="5648088" cy="4303619"/>
          </a:xfrm>
          <a:prstGeom prst="rect">
            <a:avLst/>
          </a:prstGeom>
        </p:spPr>
      </p:pic>
    </p:spTree>
    <p:extLst>
      <p:ext uri="{BB962C8B-B14F-4D97-AF65-F5344CB8AC3E}">
        <p14:creationId xmlns:p14="http://schemas.microsoft.com/office/powerpoint/2010/main" val="3428077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B1CA12-85BC-4CE6-F911-644A8FA4DDDF}"/>
              </a:ext>
            </a:extLst>
          </p:cNvPr>
          <p:cNvPicPr>
            <a:picLocks noChangeAspect="1"/>
          </p:cNvPicPr>
          <p:nvPr/>
        </p:nvPicPr>
        <p:blipFill>
          <a:blip r:embed="rId2"/>
          <a:stretch>
            <a:fillRect/>
          </a:stretch>
        </p:blipFill>
        <p:spPr>
          <a:xfrm>
            <a:off x="2468565" y="735096"/>
            <a:ext cx="7254869" cy="5387807"/>
          </a:xfrm>
          <a:prstGeom prst="rect">
            <a:avLst/>
          </a:prstGeom>
        </p:spPr>
      </p:pic>
    </p:spTree>
    <p:extLst>
      <p:ext uri="{BB962C8B-B14F-4D97-AF65-F5344CB8AC3E}">
        <p14:creationId xmlns:p14="http://schemas.microsoft.com/office/powerpoint/2010/main" val="2993128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rotWithShape="1">
          <a:blip r:embed="rId3">
            <a:alphaModFix/>
          </a:blip>
          <a:srcRect l="2306" r="2306"/>
          <a:stretch/>
        </p:blipFill>
        <p:spPr>
          <a:xfrm>
            <a:off x="1956122" y="1477579"/>
            <a:ext cx="7734167" cy="4893636"/>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1241</Words>
  <Application>Microsoft Office PowerPoint</Application>
  <PresentationFormat>Widescreen</PresentationFormat>
  <Paragraphs>102</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Chandrashekhar Loni</cp:lastModifiedBy>
  <cp:revision>3</cp:revision>
  <dcterms:created xsi:type="dcterms:W3CDTF">2025-07-08T05:06:56Z</dcterms:created>
  <dcterms:modified xsi:type="dcterms:W3CDTF">2026-07-09T08:10:45Z</dcterms:modified>
</cp:coreProperties>
</file>